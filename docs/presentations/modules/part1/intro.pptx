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5795"/>
  </p:normalViewPr>
  <p:slideViewPr>
    <p:cSldViewPr snapToGrid="0" snapToObjects="1">
      <p:cViewPr varScale="1">
        <p:scale>
          <a:sx n="125" d="100"/>
          <a:sy n="125" d="100"/>
        </p:scale>
        <p:origin x="1784" y="168"/>
      </p:cViewPr>
      <p:guideLst/>
    </p:cSldViewPr>
  </p:slideViewPr>
  <p:notesTextViewPr>
    <p:cViewPr>
      <p:scale>
        <a:sx n="195" d="100"/>
        <a:sy n="19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874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Welcome to Global Azure Columbus. I'm Shawn Wallace, Principal Architect at Centric Consulting. This talk is about moving your team from solo Copilot wins to agentic-first workflows. The repo with everything I'm about to show — instructions, skills, agents, demo app, the whole .github/ folder — is at github.com/shawnewallace/2026-global-azure-columbus. Grab it, follow along, fork it after. Core thesis, and we'll come back to this: the agent isn't the point. The system your team builds around it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of hands: who uses Copilot for autocomplete? [pause for hands] Now keep your hand up if your WHOLE TEAM is faster because of it. [watch hands drop] That's the gap. Most teams have solo wins — one fast person, maybe two. The faster teams have reorganized HOW WORK GETS DONE around the agent. Solo wins don't compound. Team systems do. The agent isn't the point — the system your team builds around it is. That's what the next 28 minutes is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we talk about the system, let's name where most teams are today. Five levels. L1 Autocomplete — tab complete, inline suggestions. L2 Chat — ask and get explanations. L3 AI Assist — multi-step edits with you still reviewing. L4 Agentic Augmented — background agents, PR creation. L5 Agentic Adaptive — agents as automation, self-directing. Most teams are stuck at L1-L2. A few individuals have reached L3. The coral banner between L2 and L3 is THE CAPABILITY GAP — the jump from AI helping you, to AI acting on your behalf. Watch the role chips at the bottom: Producer, Producer, Reviewer, Director, Director. The human role fundamentally shifts. At L4-L5, you're not producing, you're directing. L5 is the target — and L5 requires a SYSTEM, not just a tool. Let me show you why most teams stall at L2 and what it takes to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reasons teams stall at solo wins. One: every session starts from zero. Your senior developer spent 20 minutes prompting Copilot into the right headspace yesterday — today they start over. Two: Copilot doesn't know YOUR team. Not your coding standards, not your review process, not your deploy pipeline. Three: tribal knowledge stays tribal. The architect knows the patterns. The new hire doesn't. The AI doesn't either. Four: individual velocity doesn't compound into team velocity. One person shipping fast while the rest are stuck is still a stuck team. Everything I'm about to show you exists to solve these four things.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one: the system. This is the core of the talk. Everything I'm about to show lives in one folder: .github/. It's version-controlled. It's PR-reviewed. It's shared with the whole team. That's the move from individual to organizational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assets. Read them top to bottom. copilot-instructions.md raises the floor — every dev gets the same baseline. Onboarding happens automatically. star-dot-instructions.md are always-on coding standards. Clean Architecture, DDD, Object Calisthenics — whatever your team enforces, it fires on every file, every session. star-dot-prompt.md are one-click macros — PR descriptions, commit messages, release notes. SKILL.md are portable, multi-step capabilities that can carry scripts and resources. star-dot-agent.md are role-based specialists with tool restrictions and handoffs. And .mcp.json is the execution layer — it's what lets agents actually call real tools. All plain text. All version-controlled. All reviewed in PRs. This is what makes the system visible and ownable.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decision tree. Four customization assets, from lightest to heaviest. Instructions: always-on guardrails — use for standards that should apply every time. Skills: portable SOPs — use when you have a multi-step workflow worth reusing. Agents: role-based specialists with tool access — use when you need a specialist with a defined job. Prompts: lightweight macros — use for one-click recurring tasks. Rule of thumb: pick the lowest-weight tool that does the job. Don't build an agent when a prompt will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comparison. Walk the rows. Scope: Prompts are one-off; Instructions are always-on; Skills and Agents are on-demand. Invocation: Prompts and Instructions are implicit — they fire automatically; Skills you invoke with hashtag-name; Agents with at-name. The killer row is Tool Access. Prompts, Instructions, Skills — none of them call tools directly. Only Agents can call tools. That's why agents are where real work gets done. Discovery: slash-skills and slash-agents to see what's available in your workspace. Three-line recap at the bottom: Instructions = guardrails. Skills = knowledge. Agents = specialists with tools. All three compose.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4F9DE6"/>
          </a:solidFill>
          <a:ln w="12700">
            <a:solidFill>
              <a:srgbClr val="4F9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3258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Agentic-First with VS Code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That Work With AI, Not Just Next to It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54864" cy="9144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30632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isn't the point. The system your team builds around it is.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Shawn Wallace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Architect  ·  Centric Consulting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have solo wins.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7276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536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of hands: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80160" y="1783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Copilot right now?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8163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keep it up if: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280160" y="3063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whole team is faster because of it.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846320" y="1417320"/>
            <a:ext cx="3749040" cy="2468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846320" y="1417320"/>
            <a:ext cx="73152" cy="246888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12064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120640" y="18745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faster teams have reorganized how work gets done.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5120640" y="3063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wins don't compound. Team systems do.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3152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isn't the point. The system your team builds around it is.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4864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Agentic-First with GitHub Copilot  |  Global Azure Columbus 2026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229600" y="48646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Maturity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&amp; Application Modernization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" y="1097280"/>
            <a:ext cx="1627632" cy="3383280"/>
          </a:xfrm>
          <a:prstGeom prst="rect">
            <a:avLst/>
          </a:prstGeom>
          <a:solidFill>
            <a:srgbClr val="13294B"/>
          </a:solidFill>
          <a:ln w="12700">
            <a:solidFill>
              <a:srgbClr val="1F3A6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83464" y="1097280"/>
            <a:ext cx="1627632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126187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0624" y="1481328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Autocomplete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0624" y="205740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0624" y="22402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Plugin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" y="2542032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suggestions; integration beyond the editor is rare.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0624" y="324612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HUMAN RATIO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0624" y="3463544"/>
            <a:ext cx="1353312" cy="109728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0624" y="3463544"/>
            <a:ext cx="135331" cy="109728"/>
          </a:xfrm>
          <a:prstGeom prst="rect">
            <a:avLst/>
          </a:prstGeom>
          <a:solidFill>
            <a:srgbClr val="4F9DE6"/>
          </a:solidFill>
          <a:ln w="12700">
            <a:solidFill>
              <a:srgbClr val="4F9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0624" y="3566160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AI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97280" y="3566160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Human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4904" y="373075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74904" y="388620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~10-15%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224" y="4160520"/>
            <a:ext cx="896112" cy="228600"/>
          </a:xfrm>
          <a:prstGeom prst="rect">
            <a:avLst/>
          </a:prstGeom>
          <a:solidFill>
            <a:srgbClr val="4F9DE6"/>
          </a:solidFill>
          <a:ln w="12700">
            <a:solidFill>
              <a:srgbClr val="4F9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" y="416052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20824" y="1097280"/>
            <a:ext cx="1627632" cy="3383280"/>
          </a:xfrm>
          <a:prstGeom prst="rect">
            <a:avLst/>
          </a:prstGeom>
          <a:solidFill>
            <a:srgbClr val="13294B"/>
          </a:solidFill>
          <a:ln w="12700">
            <a:solidFill>
              <a:srgbClr val="1F3A6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020824" y="1097280"/>
            <a:ext cx="1627632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157984" y="126187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57984" y="1481328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157984" y="205740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57984" y="22402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/ Sidebar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57984" y="2542032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help: explain, refactor, generate snippets.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57984" y="324612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HUMAN RATIO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157984" y="3463544"/>
            <a:ext cx="1353312" cy="109728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157984" y="3463544"/>
            <a:ext cx="270662" cy="109728"/>
          </a:xfrm>
          <a:prstGeom prst="rect">
            <a:avLst/>
          </a:prstGeom>
          <a:solidFill>
            <a:srgbClr val="4F9DE6"/>
          </a:solidFill>
          <a:ln w="12700">
            <a:solidFill>
              <a:srgbClr val="4F9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157984" y="3566160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AI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834640" y="3566160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Human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112264" y="373075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112264" y="388620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~20-25%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386584" y="4160520"/>
            <a:ext cx="896112" cy="228600"/>
          </a:xfrm>
          <a:prstGeom prst="rect">
            <a:avLst/>
          </a:prstGeom>
          <a:solidFill>
            <a:srgbClr val="4F9DE6"/>
          </a:solidFill>
          <a:ln w="12700">
            <a:solidFill>
              <a:srgbClr val="4F9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386584" y="416052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758184" y="1097280"/>
            <a:ext cx="1627632" cy="3383280"/>
          </a:xfrm>
          <a:prstGeom prst="rect">
            <a:avLst/>
          </a:prstGeom>
          <a:solidFill>
            <a:srgbClr val="13294B"/>
          </a:solidFill>
          <a:ln w="12700">
            <a:solidFill>
              <a:srgbClr val="1F3A6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758184" y="1097280"/>
            <a:ext cx="1627632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895344" y="126187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895344" y="1481328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3895344" y="205740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895344" y="22402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/ IDE Agent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895344" y="2542032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edits across files; human reviews and ships.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895344" y="324612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HUMAN RATIO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895344" y="3463544"/>
            <a:ext cx="1353312" cy="109728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895344" y="3463544"/>
            <a:ext cx="676656" cy="109728"/>
          </a:xfrm>
          <a:prstGeom prst="rect">
            <a:avLst/>
          </a:prstGeom>
          <a:solidFill>
            <a:srgbClr val="4F9DE6"/>
          </a:solidFill>
          <a:ln w="12700">
            <a:solidFill>
              <a:srgbClr val="4F9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895344" y="3566160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AI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72000" y="3566160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Human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849624" y="373075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849624" y="388620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~25-50%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123944" y="4160520"/>
            <a:ext cx="896112" cy="2286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123944" y="416052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495544" y="1097280"/>
            <a:ext cx="1627632" cy="3383280"/>
          </a:xfrm>
          <a:prstGeom prst="rect">
            <a:avLst/>
          </a:prstGeom>
          <a:solidFill>
            <a:srgbClr val="13294B"/>
          </a:solidFill>
          <a:ln w="12700">
            <a:solidFill>
              <a:srgbClr val="1F3A6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495544" y="1097280"/>
            <a:ext cx="1627632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632704" y="126187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632704" y="1481328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Augmented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5632704" y="205740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632704" y="22402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Agents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632704" y="2542032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tasks, PR creation, narrated cloud workflows.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632704" y="324612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HUMAN RATIO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632704" y="3463544"/>
            <a:ext cx="1353312" cy="109728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632704" y="3463544"/>
            <a:ext cx="1014984" cy="109728"/>
          </a:xfrm>
          <a:prstGeom prst="rect">
            <a:avLst/>
          </a:prstGeom>
          <a:solidFill>
            <a:srgbClr val="4F9DE6"/>
          </a:solidFill>
          <a:ln w="12700">
            <a:solidFill>
              <a:srgbClr val="4F9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632704" y="3566160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AI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309360" y="3566160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Human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586984" y="373075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586984" y="388620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~1x-5x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5861304" y="4160520"/>
            <a:ext cx="896112" cy="2286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861304" y="416052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232904" y="1097280"/>
            <a:ext cx="1627632" cy="3383280"/>
          </a:xfrm>
          <a:prstGeom prst="rect">
            <a:avLst/>
          </a:prstGeom>
          <a:solidFill>
            <a:srgbClr val="13294B"/>
          </a:solidFill>
          <a:ln w="12700">
            <a:solidFill>
              <a:srgbClr val="1F3A6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7232904" y="1097280"/>
            <a:ext cx="1627632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370064" y="126187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370064" y="1481328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Adaptive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7370064" y="205740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370064" y="22402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as Automation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7370064" y="2542032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Self-directing systems; humans set goals, review outcomes.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370064" y="324612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HUMAN RATIO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7370064" y="3463544"/>
            <a:ext cx="1353312" cy="109728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7370064" y="3463544"/>
            <a:ext cx="1217981" cy="109728"/>
          </a:xfrm>
          <a:prstGeom prst="rect">
            <a:avLst/>
          </a:prstGeom>
          <a:solidFill>
            <a:srgbClr val="4F9DE6"/>
          </a:solidFill>
          <a:ln w="12700">
            <a:solidFill>
              <a:srgbClr val="4F9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7370064" y="3566160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AI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8046720" y="3566160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Human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7324344" y="373075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7324344" y="388620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~10-20x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7598664" y="4160520"/>
            <a:ext cx="896112" cy="2286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7598664" y="416052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926080" y="900684"/>
            <a:ext cx="1554480" cy="34747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2971800" y="90525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 GAP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65760" y="4754880"/>
            <a:ext cx="146304" cy="146304"/>
          </a:xfrm>
          <a:prstGeom prst="ellipse">
            <a:avLst/>
          </a:prstGeom>
          <a:solidFill>
            <a:srgbClr val="4F9DE6"/>
          </a:solidFill>
          <a:ln w="12700">
            <a:solidFill>
              <a:srgbClr val="4F9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548640" y="47091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Productivity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2651760" y="47091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role shifts from Producer → Reviewer → Director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6949440" y="4754880"/>
            <a:ext cx="146304" cy="146304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7132320" y="4709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Capability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wins don't scale.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4023360" cy="7315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6733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starts from zero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463040" y="21945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context carries between developers or days.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41732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1417320"/>
            <a:ext cx="4023360" cy="7315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983480" y="169164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7830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69280" y="16733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doesn't know your team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669280" y="21945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hasn't learned how you write code, review PRs, or deploy.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310896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48640" y="3108960"/>
            <a:ext cx="4023360" cy="7315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77240" y="338328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47472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33649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knowledge stays tribal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463040" y="38862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 live in people's heads — not in the tools.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754880" y="310896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754880" y="3108960"/>
            <a:ext cx="4023360" cy="7315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983480" y="338328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47472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69280" y="33649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one fast person ≠ fast team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5669280" y="38862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velocity doesn't compound into shipping velocity.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Agentic-First with GitHub Copilot  |  Global Azure Columbus 2026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8229600" y="48646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4F9DE6"/>
          </a:solidFill>
          <a:ln w="12700">
            <a:solidFill>
              <a:srgbClr val="4F9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 .github/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· Prompts · Skills · Agents · MCP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 .github/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0" y="1371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8046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69164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copilot-instructions.md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0" y="169164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the floor — every dev gets the same baseline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130552"/>
            <a:ext cx="80467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2199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13055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*.instructions.md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114800" y="213055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coding standards (Clean Architecture, DDD)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2569464"/>
            <a:ext cx="8046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6090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256946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*.prompt.md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114800" y="2569464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automation — PR descriptions, commits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3008376"/>
            <a:ext cx="80467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09981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300837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114800" y="3008376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multi-step capabilities — scripts + resources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3447288"/>
            <a:ext cx="8046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538728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97280" y="344728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*.agent.md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114800" y="344728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specialists with tool restrictions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548640" y="3886200"/>
            <a:ext cx="80467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977640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97280" y="38862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.mcp.json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4114800" y="388620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layer — connects agents to real tools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548640" y="4462272"/>
            <a:ext cx="8046720" cy="41148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/>
          <p:nvPr/>
        </p:nvSpPr>
        <p:spPr>
          <a:xfrm>
            <a:off x="731520" y="44622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· PR-reviewed · Shared with the whole team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4864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Agentic-First with GitHub Copilot  |  Global Azure Columbus 2026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229600" y="48646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· Skills · Agents · Prompts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62940" y="1554480"/>
            <a:ext cx="1783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62940" y="1554480"/>
            <a:ext cx="1783080" cy="914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8720" y="1828800"/>
            <a:ext cx="731520" cy="7315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9659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2940" y="2651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294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guardrails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0884" y="2423160"/>
            <a:ext cx="164592" cy="1645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674620" y="1554480"/>
            <a:ext cx="1783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2674620" y="1554480"/>
            <a:ext cx="1783080" cy="91440"/>
          </a:xfrm>
          <a:prstGeom prst="rect">
            <a:avLst/>
          </a:prstGeom>
          <a:solidFill>
            <a:srgbClr val="4F9DE6"/>
          </a:solidFill>
          <a:ln w="12700">
            <a:solidFill>
              <a:srgbClr val="4F9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200400" y="1828800"/>
            <a:ext cx="731520" cy="731520"/>
          </a:xfrm>
          <a:prstGeom prst="ellipse">
            <a:avLst/>
          </a:prstGeom>
          <a:solidFill>
            <a:srgbClr val="4F9DE6"/>
          </a:solidFill>
          <a:ln w="12700">
            <a:solidFill>
              <a:srgbClr val="4F9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19659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674620" y="2651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267462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SOPs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564" y="2423160"/>
            <a:ext cx="164592" cy="16459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686300" y="1554480"/>
            <a:ext cx="1783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4686300" y="1554480"/>
            <a:ext cx="1783080" cy="9144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5212080" y="1828800"/>
            <a:ext cx="731520" cy="731520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196596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686300" y="2651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68630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specialists</a:t>
            </a:r>
            <a:endParaRPr lang="en-US" sz="11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244" y="2423160"/>
            <a:ext cx="164592" cy="16459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697980" y="1554480"/>
            <a:ext cx="1783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6697980" y="1554480"/>
            <a:ext cx="1783080" cy="91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0"/>
          <p:cNvSpPr/>
          <p:nvPr/>
        </p:nvSpPr>
        <p:spPr>
          <a:xfrm>
            <a:off x="7223760" y="1828800"/>
            <a:ext cx="731520" cy="7315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20" y="1965960"/>
            <a:ext cx="457200" cy="4572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697980" y="2651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669798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macros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548640" y="3931920"/>
            <a:ext cx="8046720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4"/>
          <p:cNvSpPr/>
          <p:nvPr/>
        </p:nvSpPr>
        <p:spPr>
          <a:xfrm>
            <a:off x="548640" y="3931920"/>
            <a:ext cx="91440" cy="6858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5"/>
          <p:cNvSpPr/>
          <p:nvPr/>
        </p:nvSpPr>
        <p:spPr>
          <a:xfrm>
            <a:off x="822960" y="3931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lowest-weight tool that does the job. </a:t>
            </a:r>
            <a:r>
              <a:rPr lang="en-US" sz="1600" b="1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them. Version them. Ship them.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54864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Agentic-First with GitHub Copilot  |  Global Azure Columbus 2026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8229600" y="48646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TOOL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each .github/ component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645920" cy="59436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1280160"/>
            <a:ext cx="1691640" cy="5943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48840" y="13258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48840" y="15910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*.prompt.md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1280160"/>
            <a:ext cx="1691640" cy="594360"/>
          </a:xfrm>
          <a:prstGeom prst="rect">
            <a:avLst/>
          </a:prstGeom>
          <a:solidFill>
            <a:srgbClr val="4F9DE6"/>
          </a:solidFill>
          <a:ln w="12700">
            <a:solidFill>
              <a:srgbClr val="4F9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0" y="13258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15910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*.instructions.md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32120" y="1280160"/>
            <a:ext cx="1691640" cy="5943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32120" y="13258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32120" y="15910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1280160"/>
            <a:ext cx="1691640" cy="5943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23760" y="13258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23760" y="15910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*.agent.md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1874520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148840" y="1874520"/>
            <a:ext cx="1691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40480" y="1874520"/>
            <a:ext cx="1691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532120" y="1874520"/>
            <a:ext cx="1691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223760" y="1874520"/>
            <a:ext cx="1691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" y="18745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48840" y="187452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0" y="187452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32120" y="187452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23760" y="187452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2276856"/>
            <a:ext cx="164592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148840" y="2276856"/>
            <a:ext cx="169164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840480" y="2276856"/>
            <a:ext cx="169164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532120" y="2276856"/>
            <a:ext cx="169164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223760" y="2276856"/>
            <a:ext cx="169164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5800" y="227685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148840" y="227685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840480" y="227685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32120" y="227685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#name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23760" y="227685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@name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02920" y="2679192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148840" y="2679192"/>
            <a:ext cx="1691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840480" y="2679192"/>
            <a:ext cx="1691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532120" y="2679192"/>
            <a:ext cx="1691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223760" y="2679192"/>
            <a:ext cx="1691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5800" y="26791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Access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606040" y="2720340"/>
            <a:ext cx="77724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606040" y="27203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297680" y="2720340"/>
            <a:ext cx="77724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297680" y="27203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989320" y="2720340"/>
            <a:ext cx="77724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989320" y="27203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680960" y="2720340"/>
            <a:ext cx="777240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680960" y="27203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02920" y="3081528"/>
            <a:ext cx="164592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2148840" y="3081528"/>
            <a:ext cx="169164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840480" y="3081528"/>
            <a:ext cx="169164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532120" y="3081528"/>
            <a:ext cx="169164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223760" y="3081528"/>
            <a:ext cx="169164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85800" y="308152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148840" y="308152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840480" y="308152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532120" y="308152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7223760" y="308152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02920" y="3483864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2148840" y="3483864"/>
            <a:ext cx="1691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3840480" y="3483864"/>
            <a:ext cx="1691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532120" y="3483864"/>
            <a:ext cx="1691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7223760" y="3483864"/>
            <a:ext cx="1691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85800" y="348386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2148840" y="348386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3840480" y="348386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5532120" y="348386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/skills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7223760" y="348386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/agents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502920" y="3959352"/>
            <a:ext cx="841248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502920" y="39593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guardrails   ·   </a:t>
            </a:r>
            <a:r>
              <a:rPr lang="en-US" sz="1100" b="1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knowledge   ·   </a:t>
            </a:r>
            <a:r>
              <a:rPr lang="en-US" sz="1100" b="1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specialists with tools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4864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Agentic-First with GitHub Copilot  |  Global Azure Columbus 2026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229600" y="48646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1544</Words>
  <Application>Microsoft Macintosh PowerPoint</Application>
  <PresentationFormat>On-screen Show (16:9)</PresentationFormat>
  <Paragraphs>182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Centric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Agentic-First with GitHub Copilot</dc:title>
  <dc:subject>PptxGenJS Presentation</dc:subject>
  <dc:creator>Shawn Wallace</dc:creator>
  <cp:lastModifiedBy>Shawn Wallace</cp:lastModifiedBy>
  <cp:revision>9</cp:revision>
  <dcterms:created xsi:type="dcterms:W3CDTF">2026-04-17T15:16:06Z</dcterms:created>
  <dcterms:modified xsi:type="dcterms:W3CDTF">2026-08-09T19:29:53Z</dcterms:modified>
</cp:coreProperties>
</file>